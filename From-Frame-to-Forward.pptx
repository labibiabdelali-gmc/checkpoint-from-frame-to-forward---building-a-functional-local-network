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ED52436-EC63-4C09-F5F7-0856AEBA09A3}">
          <p14:sldIdLst>
            <p14:sldId id="256"/>
            <p14:sldId id="257"/>
            <p14:sldId id="258"/>
          </p14:sldIdLst>
        </p14:section>
        <p14:section name="Part 1 - MAC &amp; Frames" id="{D03CB2F9-FE0C-8262-05FE-27AE48336AD0}">
          <p14:sldIdLst>
            <p14:sldId id="259"/>
            <p14:sldId id="260"/>
            <p14:sldId id="261"/>
            <p14:sldId id="262"/>
          </p14:sldIdLst>
        </p14:section>
        <p14:section name="Part 2 - IP &amp; Subnetting" id="{384DB62E-7297-93C4-4127-EFBFECA09667}">
          <p14:sldIdLst>
            <p14:sldId id="263"/>
            <p14:sldId id="264"/>
            <p14:sldId id="265"/>
            <p14:sldId id="266"/>
          </p14:sldIdLst>
        </p14:section>
        <p14:section name="Part 3 - Routing &amp; NAT" id="{9128D319-BAF1-3A2C-7458-F7B4D924C575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Summary" id="{E7250D10-384F-A95F-7EAE-E6466079D399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60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design a small LAN for one company floor and follow data from Ethernet frames up to IP routing and NAT.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has three ports: G0/0 to the internet (ISP), G0/1 to Switch 1 (wired subnet), G0/2 to the access point (wireless subnet). Switch 2 hangs off Switch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MACs are set by the manufacturer; we use a readable numbering scheme so the documentation is easy to follow. A router has one MAC per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PC1 and the printer are in the same subnet, so the frame goes straight through the switch. The router is not involved.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DORA: Discover, Offer, Request, Acknowledge. Without DHCP, every new phone or laptop would need its IP typed in by hand. The printer is static so print jobs always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PAT (port address translation), the most common form of NAT. The port number tells the router which inside device a reply belongs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600" b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From Frame to Forward  |  Small office 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From Frame to Forward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Building a small office network with internet access</a:t>
            </a:r>
            <a:endParaRPr lang="en-US" sz="2200" dirty="0"/>
          </a:p>
        </p:txBody>
      </p:sp>
      <p:sp>
        <p:nvSpPr>
          <p:cNvPr id="4" name="link"/>
          <p:cNvSpPr/>
          <p:nvPr/>
        </p:nvSpPr>
        <p:spPr>
          <a:xfrm>
            <a:off x="1463040" y="5120640"/>
            <a:ext cx="7315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5" name="node "/>
          <p:cNvSpPr/>
          <p:nvPr/>
        </p:nvSpPr>
        <p:spPr>
          <a:xfrm>
            <a:off x="731520" y="4754880"/>
            <a:ext cx="731520" cy="7315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4930445"/>
            <a:ext cx="380390" cy="380390"/>
          </a:xfrm>
          <a:prstGeom prst="rect">
            <a:avLst/>
          </a:prstGeom>
        </p:spPr>
      </p:pic>
      <p:sp>
        <p:nvSpPr>
          <p:cNvPr id="7" name="link"/>
          <p:cNvSpPr/>
          <p:nvPr/>
        </p:nvSpPr>
        <p:spPr>
          <a:xfrm>
            <a:off x="2926080" y="5120640"/>
            <a:ext cx="7315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8" name="node "/>
          <p:cNvSpPr/>
          <p:nvPr/>
        </p:nvSpPr>
        <p:spPr>
          <a:xfrm>
            <a:off x="2194560" y="4754880"/>
            <a:ext cx="731520" cy="7315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9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125" y="4930445"/>
            <a:ext cx="380390" cy="380390"/>
          </a:xfrm>
          <a:prstGeom prst="rect">
            <a:avLst/>
          </a:prstGeom>
        </p:spPr>
      </p:pic>
      <p:sp>
        <p:nvSpPr>
          <p:cNvPr id="10" name="link"/>
          <p:cNvSpPr/>
          <p:nvPr/>
        </p:nvSpPr>
        <p:spPr>
          <a:xfrm>
            <a:off x="4389120" y="5120640"/>
            <a:ext cx="7315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11" name="node "/>
          <p:cNvSpPr/>
          <p:nvPr/>
        </p:nvSpPr>
        <p:spPr>
          <a:xfrm>
            <a:off x="3657600" y="4754880"/>
            <a:ext cx="731520" cy="7315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2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165" y="4930445"/>
            <a:ext cx="380390" cy="380390"/>
          </a:xfrm>
          <a:prstGeom prst="rect">
            <a:avLst/>
          </a:prstGeom>
        </p:spPr>
      </p:pic>
      <p:sp>
        <p:nvSpPr>
          <p:cNvPr id="13" name="node "/>
          <p:cNvSpPr/>
          <p:nvPr/>
        </p:nvSpPr>
        <p:spPr>
          <a:xfrm>
            <a:off x="5120640" y="4754880"/>
            <a:ext cx="731520" cy="7315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4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6205" y="4930445"/>
            <a:ext cx="380390" cy="38039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17920" y="4892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/>
                </a:solidFill>
              </a:rPr>
              <a:t>Data link layer  &gt;  Network layer  &gt;  Internet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THE SCENARIO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we are building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One company floor. Everyone shares a printer and reaches the internet through one router.</a:t>
            </a:r>
            <a:endParaRPr lang="en-US" sz="1600" dirty="0"/>
          </a:p>
        </p:txBody>
      </p:sp>
      <p:sp>
        <p:nvSpPr>
          <p:cNvPr id="5" name="kit Router"/>
          <p:cNvSpPr/>
          <p:nvPr/>
        </p:nvSpPr>
        <p:spPr>
          <a:xfrm>
            <a:off x="548640" y="210312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de "/>
          <p:cNvSpPr/>
          <p:nvPr/>
        </p:nvSpPr>
        <p:spPr>
          <a:xfrm>
            <a:off x="822960" y="256032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7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757830"/>
            <a:ext cx="427939" cy="4279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Router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Connects the office to the internet</a:t>
            </a:r>
            <a:endParaRPr lang="en-US" sz="1500" dirty="0"/>
          </a:p>
        </p:txBody>
      </p:sp>
      <p:sp>
        <p:nvSpPr>
          <p:cNvPr id="10" name="kit Switches"/>
          <p:cNvSpPr/>
          <p:nvPr/>
        </p:nvSpPr>
        <p:spPr>
          <a:xfrm>
            <a:off x="4297680" y="210312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ode "/>
          <p:cNvSpPr/>
          <p:nvPr/>
        </p:nvSpPr>
        <p:spPr>
          <a:xfrm>
            <a:off x="4572000" y="256032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2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510" y="275783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2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562356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Switches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Connect the wired devices</a:t>
            </a:r>
            <a:endParaRPr lang="en-US" sz="1500" dirty="0"/>
          </a:p>
        </p:txBody>
      </p:sp>
      <p:sp>
        <p:nvSpPr>
          <p:cNvPr id="15" name="kit Employee PCs"/>
          <p:cNvSpPr/>
          <p:nvPr/>
        </p:nvSpPr>
        <p:spPr>
          <a:xfrm>
            <a:off x="8046720" y="210312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ode "/>
          <p:cNvSpPr/>
          <p:nvPr/>
        </p:nvSpPr>
        <p:spPr>
          <a:xfrm>
            <a:off x="8321040" y="256032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7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550" y="275783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726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4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937260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Employee PCs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Wired desktops</a:t>
            </a:r>
            <a:endParaRPr lang="en-US" sz="1500" dirty="0"/>
          </a:p>
        </p:txBody>
      </p:sp>
      <p:sp>
        <p:nvSpPr>
          <p:cNvPr id="20" name="kit Printer"/>
          <p:cNvSpPr/>
          <p:nvPr/>
        </p:nvSpPr>
        <p:spPr>
          <a:xfrm>
            <a:off x="548640" y="41148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ode 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2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70" y="476951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74520" y="4343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1</a:t>
            </a:r>
            <a:endParaRPr lang="en-US" sz="4000" dirty="0"/>
          </a:p>
        </p:txBody>
      </p:sp>
      <p:sp>
        <p:nvSpPr>
          <p:cNvPr id="24" name="Text 18"/>
          <p:cNvSpPr txBox="1"/>
          <p:nvPr/>
        </p:nvSpPr>
        <p:spPr>
          <a:xfrm>
            <a:off x="1874520" y="5029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Printer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Shared by everyone</a:t>
            </a:r>
            <a:endParaRPr lang="en-US" sz="1500" dirty="0"/>
          </a:p>
        </p:txBody>
      </p:sp>
      <p:sp>
        <p:nvSpPr>
          <p:cNvPr id="25" name="kit Wi-Fi access point"/>
          <p:cNvSpPr/>
          <p:nvPr/>
        </p:nvSpPr>
        <p:spPr>
          <a:xfrm>
            <a:off x="4297680" y="41148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node "/>
          <p:cNvSpPr/>
          <p:nvPr/>
        </p:nvSpPr>
        <p:spPr>
          <a:xfrm>
            <a:off x="4572000" y="4572000"/>
            <a:ext cx="822960" cy="8229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7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9510" y="4769510"/>
            <a:ext cx="427939" cy="42793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623560" y="4343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1</a:t>
            </a:r>
            <a:endParaRPr lang="en-US" sz="4000" dirty="0"/>
          </a:p>
        </p:txBody>
      </p:sp>
      <p:sp>
        <p:nvSpPr>
          <p:cNvPr id="29" name="Text 22"/>
          <p:cNvSpPr txBox="1"/>
          <p:nvPr/>
        </p:nvSpPr>
        <p:spPr>
          <a:xfrm>
            <a:off x="5623560" y="5029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Wi-Fi access point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Creates the wireless network</a:t>
            </a:r>
            <a:endParaRPr lang="en-US" sz="1500" dirty="0"/>
          </a:p>
        </p:txBody>
      </p:sp>
      <p:sp>
        <p:nvSpPr>
          <p:cNvPr id="30" name="kit Wireless devices"/>
          <p:cNvSpPr/>
          <p:nvPr/>
        </p:nvSpPr>
        <p:spPr>
          <a:xfrm>
            <a:off x="8046720" y="41148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node "/>
          <p:cNvSpPr/>
          <p:nvPr/>
        </p:nvSpPr>
        <p:spPr>
          <a:xfrm>
            <a:off x="8321040" y="4572000"/>
            <a:ext cx="822960" cy="8229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32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8550" y="4769510"/>
            <a:ext cx="427939" cy="427939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372600" y="4343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2</a:t>
            </a:r>
            <a:endParaRPr lang="en-US" sz="4000" dirty="0"/>
          </a:p>
        </p:txBody>
      </p:sp>
      <p:sp>
        <p:nvSpPr>
          <p:cNvPr id="34" name="Text 26"/>
          <p:cNvSpPr txBox="1"/>
          <p:nvPr/>
        </p:nvSpPr>
        <p:spPr>
          <a:xfrm>
            <a:off x="9372600" y="5029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Wireless devices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 laptop and a phone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NETWORK DIAGRAM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everything is connected</a:t>
            </a:r>
            <a:endParaRPr lang="en-US" sz="3600" dirty="0"/>
          </a:p>
        </p:txBody>
      </p:sp>
      <p:sp>
        <p:nvSpPr>
          <p:cNvPr id="4" name="wired zone"/>
          <p:cNvSpPr/>
          <p:nvPr/>
        </p:nvSpPr>
        <p:spPr>
          <a:xfrm>
            <a:off x="548640" y="3063240"/>
            <a:ext cx="7040880" cy="3154680"/>
          </a:xfrm>
          <a:prstGeom prst="roundRect">
            <a:avLst>
              <a:gd name="adj" fmla="val 4348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5" name="wireless zone"/>
          <p:cNvSpPr/>
          <p:nvPr/>
        </p:nvSpPr>
        <p:spPr>
          <a:xfrm>
            <a:off x="7863840" y="3063240"/>
            <a:ext cx="3749040" cy="3154680"/>
          </a:xfrm>
          <a:prstGeom prst="roundRect">
            <a:avLst>
              <a:gd name="adj" fmla="val 4348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3152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WIRED LAN  192.168.10.0/26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WIRELESS LAN  192.168.10.64/26</a:t>
            </a:r>
            <a:endParaRPr lang="en-US" sz="1200" dirty="0"/>
          </a:p>
        </p:txBody>
      </p:sp>
      <p:sp>
        <p:nvSpPr>
          <p:cNvPr id="8" name="link"/>
          <p:cNvSpPr/>
          <p:nvPr/>
        </p:nvSpPr>
        <p:spPr>
          <a:xfrm>
            <a:off x="6080760" y="1783080"/>
            <a:ext cx="0" cy="96012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</a:ln>
        </p:spPr>
      </p:sp>
      <p:sp>
        <p:nvSpPr>
          <p:cNvPr id="9" name="link"/>
          <p:cNvSpPr/>
          <p:nvPr/>
        </p:nvSpPr>
        <p:spPr>
          <a:xfrm flipH="1">
            <a:off x="2377440" y="2743200"/>
            <a:ext cx="3703320" cy="11430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0" name="link"/>
          <p:cNvSpPr/>
          <p:nvPr/>
        </p:nvSpPr>
        <p:spPr>
          <a:xfrm>
            <a:off x="6080760" y="2743200"/>
            <a:ext cx="3657600" cy="11430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1" name="link"/>
          <p:cNvSpPr/>
          <p:nvPr/>
        </p:nvSpPr>
        <p:spPr>
          <a:xfrm>
            <a:off x="2377440" y="3886200"/>
            <a:ext cx="2743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2" name="link"/>
          <p:cNvSpPr/>
          <p:nvPr/>
        </p:nvSpPr>
        <p:spPr>
          <a:xfrm flipH="1">
            <a:off x="1188720" y="3886200"/>
            <a:ext cx="1188720" cy="1371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3" name="link"/>
          <p:cNvSpPr/>
          <p:nvPr/>
        </p:nvSpPr>
        <p:spPr>
          <a:xfrm>
            <a:off x="2377440" y="3886200"/>
            <a:ext cx="0" cy="1371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4" name="link"/>
          <p:cNvSpPr/>
          <p:nvPr/>
        </p:nvSpPr>
        <p:spPr>
          <a:xfrm>
            <a:off x="2377440" y="3886200"/>
            <a:ext cx="1188720" cy="1371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5" name="link"/>
          <p:cNvSpPr/>
          <p:nvPr/>
        </p:nvSpPr>
        <p:spPr>
          <a:xfrm flipH="1">
            <a:off x="4572000" y="3886200"/>
            <a:ext cx="548640" cy="1371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6" name="link"/>
          <p:cNvSpPr/>
          <p:nvPr/>
        </p:nvSpPr>
        <p:spPr>
          <a:xfrm>
            <a:off x="5120640" y="3886200"/>
            <a:ext cx="822960" cy="137160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7" name="link"/>
          <p:cNvSpPr/>
          <p:nvPr/>
        </p:nvSpPr>
        <p:spPr>
          <a:xfrm flipH="1">
            <a:off x="8915400" y="3886200"/>
            <a:ext cx="822960" cy="137160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18" name="link"/>
          <p:cNvSpPr/>
          <p:nvPr/>
        </p:nvSpPr>
        <p:spPr>
          <a:xfrm>
            <a:off x="9738360" y="3886200"/>
            <a:ext cx="822960" cy="137160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4922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Internet</a:t>
            </a:r>
            <a:endParaRPr lang="en-US" sz="1300" dirty="0"/>
          </a:p>
        </p:txBody>
      </p:sp>
      <p:sp>
        <p:nvSpPr>
          <p:cNvPr id="20" name="node "/>
          <p:cNvSpPr/>
          <p:nvPr/>
        </p:nvSpPr>
        <p:spPr>
          <a:xfrm>
            <a:off x="5760720" y="1463040"/>
            <a:ext cx="640080" cy="64008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1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39" y="1616659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379476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1"/>
                </a:solidFill>
              </a:rPr>
              <a:t>Router</a:t>
            </a:r>
            <a:endParaRPr lang="en-US" sz="1300" dirty="0"/>
          </a:p>
          <a:p>
            <a:pPr marL="0" indent="0" algn="r">
              <a:buNone/>
            </a:pPr>
            <a:r>
              <a:rPr lang="en-US" sz="1100" dirty="0">
                <a:solidFill>
                  <a:schemeClr val="tx2"/>
                </a:solidFill>
              </a:rPr>
              <a:t>WAN 203.0.113.10</a:t>
            </a:r>
            <a:endParaRPr lang="en-US" sz="1300" dirty="0"/>
          </a:p>
        </p:txBody>
      </p:sp>
      <p:sp>
        <p:nvSpPr>
          <p:cNvPr id="23" name="node "/>
          <p:cNvSpPr/>
          <p:nvPr/>
        </p:nvSpPr>
        <p:spPr>
          <a:xfrm>
            <a:off x="5715000" y="2377440"/>
            <a:ext cx="731520" cy="73152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4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5" y="2553005"/>
            <a:ext cx="380390" cy="380390"/>
          </a:xfrm>
          <a:prstGeom prst="rect">
            <a:avLst/>
          </a:prstGeom>
        </p:spPr>
      </p:pic>
      <p:sp>
        <p:nvSpPr>
          <p:cNvPr id="25" name="node "/>
          <p:cNvSpPr/>
          <p:nvPr/>
        </p:nvSpPr>
        <p:spPr>
          <a:xfrm>
            <a:off x="2057400" y="35661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6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019" y="3719779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14400" y="3721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1</a:t>
            </a:r>
            <a:endParaRPr lang="en-US" sz="1300" dirty="0"/>
          </a:p>
        </p:txBody>
      </p:sp>
      <p:sp>
        <p:nvSpPr>
          <p:cNvPr id="28" name="node "/>
          <p:cNvSpPr/>
          <p:nvPr/>
        </p:nvSpPr>
        <p:spPr>
          <a:xfrm>
            <a:off x="4800600" y="356616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9" name="Image 3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219" y="3719779"/>
            <a:ext cx="332842" cy="33284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532120" y="3721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2</a:t>
            </a:r>
            <a:endParaRPr lang="en-US" sz="1300" dirty="0"/>
          </a:p>
        </p:txBody>
      </p:sp>
      <p:sp>
        <p:nvSpPr>
          <p:cNvPr id="31" name="node "/>
          <p:cNvSpPr/>
          <p:nvPr/>
        </p:nvSpPr>
        <p:spPr>
          <a:xfrm>
            <a:off x="9418320" y="356616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32" name="Image 4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1939" y="3719779"/>
            <a:ext cx="332842" cy="33284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149840" y="37216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Access point</a:t>
            </a:r>
            <a:endParaRPr lang="en-US" sz="1300" dirty="0"/>
          </a:p>
        </p:txBody>
      </p:sp>
      <p:sp>
        <p:nvSpPr>
          <p:cNvPr id="34" name="node PC1"/>
          <p:cNvSpPr/>
          <p:nvPr/>
        </p:nvSpPr>
        <p:spPr>
          <a:xfrm>
            <a:off x="914400" y="49834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35" name="Image 5" descr="PC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4" y="5115154"/>
            <a:ext cx="285293" cy="28529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27432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PC1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.10</a:t>
            </a:r>
            <a:endParaRPr lang="en-US" sz="1300" dirty="0"/>
          </a:p>
        </p:txBody>
      </p:sp>
      <p:sp>
        <p:nvSpPr>
          <p:cNvPr id="37" name="node PC2"/>
          <p:cNvSpPr/>
          <p:nvPr/>
        </p:nvSpPr>
        <p:spPr>
          <a:xfrm>
            <a:off x="2103120" y="49834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38" name="Image 6" descr="PC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4794" y="5115154"/>
            <a:ext cx="285293" cy="28529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6304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PC2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.11</a:t>
            </a:r>
            <a:endParaRPr lang="en-US" sz="1300" dirty="0"/>
          </a:p>
        </p:txBody>
      </p:sp>
      <p:sp>
        <p:nvSpPr>
          <p:cNvPr id="40" name="node Printer"/>
          <p:cNvSpPr/>
          <p:nvPr/>
        </p:nvSpPr>
        <p:spPr>
          <a:xfrm>
            <a:off x="3291840" y="4983480"/>
            <a:ext cx="548640" cy="54864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41" name="Image 7" descr="Print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3514" y="5115154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265176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Printer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.5</a:t>
            </a:r>
            <a:endParaRPr lang="en-US" sz="1300" dirty="0"/>
          </a:p>
        </p:txBody>
      </p:sp>
      <p:sp>
        <p:nvSpPr>
          <p:cNvPr id="43" name="node PC3"/>
          <p:cNvSpPr/>
          <p:nvPr/>
        </p:nvSpPr>
        <p:spPr>
          <a:xfrm>
            <a:off x="4297680" y="49834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44" name="Image 8" descr="PC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354" y="5115154"/>
            <a:ext cx="285293" cy="285293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365760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PC3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.12</a:t>
            </a:r>
            <a:endParaRPr lang="en-US" sz="1300" dirty="0"/>
          </a:p>
        </p:txBody>
      </p:sp>
      <p:sp>
        <p:nvSpPr>
          <p:cNvPr id="46" name="node PC4"/>
          <p:cNvSpPr/>
          <p:nvPr/>
        </p:nvSpPr>
        <p:spPr>
          <a:xfrm>
            <a:off x="5669280" y="498348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47" name="Image 9" descr="PC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0954" y="5115154"/>
            <a:ext cx="285293" cy="285293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502920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PC4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.13</a:t>
            </a:r>
            <a:endParaRPr lang="en-US" sz="1300" dirty="0"/>
          </a:p>
        </p:txBody>
      </p:sp>
      <p:sp>
        <p:nvSpPr>
          <p:cNvPr id="49" name="node Laptop"/>
          <p:cNvSpPr/>
          <p:nvPr/>
        </p:nvSpPr>
        <p:spPr>
          <a:xfrm>
            <a:off x="8641080" y="498348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50" name="Image 10" descr="Laptop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2754" y="5115154"/>
            <a:ext cx="285293" cy="285293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800100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Laptop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.70</a:t>
            </a:r>
            <a:endParaRPr lang="en-US" sz="1300" dirty="0"/>
          </a:p>
        </p:txBody>
      </p:sp>
      <p:sp>
        <p:nvSpPr>
          <p:cNvPr id="52" name="node Phone"/>
          <p:cNvSpPr/>
          <p:nvPr/>
        </p:nvSpPr>
        <p:spPr>
          <a:xfrm>
            <a:off x="10287000" y="498348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53" name="Image 11" descr="Phon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8674" y="5115154"/>
            <a:ext cx="285293" cy="285293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9646920" y="5577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Phone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.71</a:t>
            </a:r>
            <a:endParaRPr lang="en-US" sz="1300" dirty="0"/>
          </a:p>
        </p:txBody>
      </p:sp>
      <p:sp>
        <p:nvSpPr>
          <p:cNvPr id="55" name="Text 41"/>
          <p:cNvSpPr txBox="1"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Solid line </a:t>
            </a:r>
            <a:r>
              <a:rPr lang="en-US" sz="1300" dirty="0">
                <a:solidFill>
                  <a:schemeClr val="tx2"/>
                </a:solidFill>
              </a:rPr>
              <a:t>= Ethernet cable    </a:t>
            </a:r>
            <a:r>
              <a:rPr lang="en-US" sz="1300" b="1" dirty="0">
                <a:solidFill>
                  <a:schemeClr val="tx2"/>
                </a:solidFill>
              </a:rPr>
              <a:t>Dashed orange </a:t>
            </a:r>
            <a:r>
              <a:rPr lang="en-US" sz="1300" dirty="0">
                <a:solidFill>
                  <a:schemeClr val="tx2"/>
                </a:solidFill>
              </a:rPr>
              <a:t>= Wi-Fi radio</a:t>
            </a:r>
            <a:endParaRPr lang="en-US" sz="13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MAC addresses &amp; frames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Who is who on the local network, what a frame looks like, and how collisions are handled.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1  ·  MAC ADDRESSES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device gets a MAC address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06640" cy="4608576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Device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MAC address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Connected to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 - port G0/0 (internet)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00:1A:2B:10:00:01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 - port G0/1 (wired)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00:1A:2B:10:00:02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 - port G0/2 (wireless)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00:1A:2B:10:00:03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Access point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00:1A:2B:20:00:01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00:1A:2B:20:00:02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00:1A:2B:30:00:01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00:1A:2B:30:00:02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00:1A:2B:30:00:03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00:1A:2B:30:00:04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Printer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00:1A:2B:40:00:01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Wi-Fi access point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00:1A:2B:50:00:01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Laptop (wireless)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00:1A:2B:60:00:01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Access point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Phone (wireless)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00:1A:2B:60:00:02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Access point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MAC explainer"/>
          <p:cNvSpPr/>
          <p:nvPr/>
        </p:nvSpPr>
        <p:spPr>
          <a:xfrm>
            <a:off x="8321040" y="1463040"/>
            <a:ext cx="3291840" cy="461772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8549640" y="164592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Reading a MAC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00:1A:2B</a:t>
            </a:r>
            <a:r>
              <a:rPr lang="en-US" sz="2000" b="1" dirty="0">
                <a:solidFill>
                  <a:schemeClr val="accent3"/>
                </a:solidFill>
              </a:rPr>
              <a:t> : 30:00:01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First half = maker (OUI)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Second half = this device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48 bits, written as 12 hex digits. Burned into the network card and works only inside the local network.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second byte of the device part shows the type: 10 router, 20 switch, 30 PC, 40 printer, 50 AP, 60 wireless.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1  ·  FRAME STRUCTURE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 frame from PC1 to the printer</a:t>
            </a:r>
            <a:endParaRPr lang="en-US" sz="3600" dirty="0"/>
          </a:p>
        </p:txBody>
      </p:sp>
      <p:sp>
        <p:nvSpPr>
          <p:cNvPr id="4" name="field Preamble"/>
          <p:cNvSpPr/>
          <p:nvPr/>
        </p:nvSpPr>
        <p:spPr>
          <a:xfrm>
            <a:off x="548640" y="1965960"/>
            <a:ext cx="1234440" cy="914400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12344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Preamble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7 bytes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44368"/>
            <a:ext cx="12344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1010... sync</a:t>
            </a:r>
            <a:endParaRPr lang="en-US" sz="1200" dirty="0"/>
          </a:p>
        </p:txBody>
      </p:sp>
      <p:sp>
        <p:nvSpPr>
          <p:cNvPr id="7" name="field SFD"/>
          <p:cNvSpPr/>
          <p:nvPr/>
        </p:nvSpPr>
        <p:spPr>
          <a:xfrm>
            <a:off x="1847088" y="1965960"/>
            <a:ext cx="868680" cy="914400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47088" y="1965960"/>
            <a:ext cx="8686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SFD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1 byte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2944368"/>
            <a:ext cx="868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Start of frame</a:t>
            </a:r>
            <a:endParaRPr lang="en-US" sz="1200" dirty="0"/>
          </a:p>
        </p:txBody>
      </p:sp>
      <p:sp>
        <p:nvSpPr>
          <p:cNvPr id="10" name="field Destination MAC"/>
          <p:cNvSpPr/>
          <p:nvPr/>
        </p:nvSpPr>
        <p:spPr>
          <a:xfrm>
            <a:off x="2779776" y="1965960"/>
            <a:ext cx="1828800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9776" y="1965960"/>
            <a:ext cx="18288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Destination MAC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6 bytes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79776" y="2944368"/>
            <a:ext cx="18288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00:1A:2B:40:00:01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(Printer)</a:t>
            </a:r>
            <a:endParaRPr lang="en-US" sz="1200" dirty="0"/>
          </a:p>
        </p:txBody>
      </p:sp>
      <p:sp>
        <p:nvSpPr>
          <p:cNvPr id="13" name="field Source MAC"/>
          <p:cNvSpPr/>
          <p:nvPr/>
        </p:nvSpPr>
        <p:spPr>
          <a:xfrm>
            <a:off x="4672584" y="1965960"/>
            <a:ext cx="1828800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72584" y="1965960"/>
            <a:ext cx="18288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Source MAC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6 bytes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2944368"/>
            <a:ext cx="18288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00:1A:2B:30:00:01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(PC1)</a:t>
            </a:r>
            <a:endParaRPr lang="en-US" sz="1200" dirty="0"/>
          </a:p>
        </p:txBody>
      </p:sp>
      <p:sp>
        <p:nvSpPr>
          <p:cNvPr id="16" name="field Type"/>
          <p:cNvSpPr/>
          <p:nvPr/>
        </p:nvSpPr>
        <p:spPr>
          <a:xfrm>
            <a:off x="6565392" y="1965960"/>
            <a:ext cx="1051560" cy="914400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65392" y="1965960"/>
            <a:ext cx="10515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Type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2 bytes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944368"/>
            <a:ext cx="10515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0x0800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= IPv4</a:t>
            </a:r>
            <a:endParaRPr lang="en-US" sz="1200" dirty="0"/>
          </a:p>
        </p:txBody>
      </p:sp>
      <p:sp>
        <p:nvSpPr>
          <p:cNvPr id="19" name="field Payload (data)"/>
          <p:cNvSpPr/>
          <p:nvPr/>
        </p:nvSpPr>
        <p:spPr>
          <a:xfrm>
            <a:off x="7680960" y="1965960"/>
            <a:ext cx="2926080" cy="91440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1965960"/>
            <a:ext cx="29260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Payload (data)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46 - 1500 bytes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944368"/>
            <a:ext cx="2926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IP packet: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192.168.10.10 to .5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+ the print job</a:t>
            </a:r>
            <a:endParaRPr lang="en-US" sz="1200" dirty="0"/>
          </a:p>
        </p:txBody>
      </p:sp>
      <p:sp>
        <p:nvSpPr>
          <p:cNvPr id="22" name="field FCS"/>
          <p:cNvSpPr/>
          <p:nvPr/>
        </p:nvSpPr>
        <p:spPr>
          <a:xfrm>
            <a:off x="10671048" y="1965960"/>
            <a:ext cx="960120" cy="9144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71048" y="1965960"/>
            <a:ext cx="9601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FCS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4 bytes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671048" y="2944368"/>
            <a:ext cx="9601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CRC error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check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15087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Start signal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779776" y="150876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Header (14 bytes)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Data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671048" y="1508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Trailer</a:t>
            </a:r>
            <a:endParaRPr lang="en-US" sz="1300" dirty="0"/>
          </a:p>
        </p:txBody>
      </p:sp>
      <p:sp>
        <p:nvSpPr>
          <p:cNvPr id="29" name="1. Before sending: ARP"/>
          <p:cNvSpPr/>
          <p:nvPr/>
        </p:nvSpPr>
        <p:spPr>
          <a:xfrm>
            <a:off x="548640" y="397764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11480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 Before sending: ARP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PC1 knows the printer's IP but not its MAC. It broadcasts "Who has 192.168.10.5?" and the printer replies with its MAC.</a:t>
            </a:r>
            <a:endParaRPr lang="en-US" sz="1400" dirty="0"/>
          </a:p>
        </p:txBody>
      </p:sp>
      <p:sp>
        <p:nvSpPr>
          <p:cNvPr id="31" name="2. At the switch"/>
          <p:cNvSpPr/>
          <p:nvPr/>
        </p:nvSpPr>
        <p:spPr>
          <a:xfrm>
            <a:off x="4297680" y="397764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26280" y="411480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 At the switch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switch reads only the destination MAC, checks its MAC table and sends the frame out of the printer's port only.</a:t>
            </a:r>
            <a:endParaRPr lang="en-US" sz="1400" dirty="0"/>
          </a:p>
        </p:txBody>
      </p:sp>
      <p:sp>
        <p:nvSpPr>
          <p:cNvPr id="33" name="3. At the printer"/>
          <p:cNvSpPr/>
          <p:nvPr/>
        </p:nvSpPr>
        <p:spPr>
          <a:xfrm>
            <a:off x="8046720" y="397764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75320" y="411480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 At the printer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printer recalculates the FCS. If it matches, the frame is good and the data goes up to IP. If not, it is dropped.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1  ·  COLLISIONS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Who talks first? Wired vs. wireless</a:t>
            </a:r>
            <a:endParaRPr lang="en-US" sz="3600" dirty="0"/>
          </a:p>
        </p:txBody>
      </p:sp>
      <p:sp>
        <p:nvSpPr>
          <p:cNvPr id="4" name="Ethernet (wired)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ode "/>
          <p:cNvSpPr/>
          <p:nvPr/>
        </p:nvSpPr>
        <p:spPr>
          <a:xfrm>
            <a:off x="845820" y="1805940"/>
            <a:ext cx="777240" cy="7772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19924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7830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Ethernet (wired)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CSMA/CD - detect collisions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Old hubs put everyone on one shared wire, so two PCs could send at once and collide.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CSMA/CD: listen first. If a collision is detected, stop, wait a random time, retry.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Our switches give each device its own port in full-duplex: it can send and receive at the same time.</a:t>
            </a:r>
            <a:endParaRPr lang="en-US" sz="1500" dirty="0"/>
          </a:p>
        </p:txBody>
      </p:sp>
      <p:sp>
        <p:nvSpPr>
          <p:cNvPr id="9" name="takeaway Ethernet (wired)"/>
          <p:cNvSpPr/>
          <p:nvPr/>
        </p:nvSpPr>
        <p:spPr>
          <a:xfrm>
            <a:off x="822960" y="5303520"/>
            <a:ext cx="4800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Each switch port = its own collision domain, so collisions basically never happen.</a:t>
            </a:r>
            <a:endParaRPr lang="en-US" sz="1400" dirty="0"/>
          </a:p>
        </p:txBody>
      </p:sp>
      <p:sp>
        <p:nvSpPr>
          <p:cNvPr id="11" name="Wi-Fi (wireless)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"/>
          <p:cNvSpPr/>
          <p:nvPr/>
        </p:nvSpPr>
        <p:spPr>
          <a:xfrm>
            <a:off x="6560820" y="1805940"/>
            <a:ext cx="777240" cy="7772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3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358" y="199247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43800" y="17830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Wi-Fi (wireless)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CSMA/CA - avoid collisions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283464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radio cannot listen while it sends, so collisions cannot be detected. They must be avoided.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CSMA/CA: listen. If the air is busy, wait a random backoff time, then send.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receiver answers with an ACK. No ACK = send again. RTS/CTS can reserve the air for hidden devices.</a:t>
            </a:r>
            <a:endParaRPr lang="en-US" sz="1500" dirty="0"/>
          </a:p>
        </p:txBody>
      </p:sp>
      <p:sp>
        <p:nvSpPr>
          <p:cNvPr id="16" name="takeaway Wi-Fi (wireless)"/>
          <p:cNvSpPr/>
          <p:nvPr/>
        </p:nvSpPr>
        <p:spPr>
          <a:xfrm>
            <a:off x="6537960" y="5303520"/>
            <a:ext cx="48006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3796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Listen  &gt;  Wait random time  &gt;  Send  &gt;  Get 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IP addressing &amp; subnetting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Pick a private range, split it into wired and wireless, and let DHCP hand out addresses.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 ·  SUBNETTING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One /24 split into two working subnets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Private range 192.168.10.0/24</a:t>
            </a:r>
            <a:r>
              <a:rPr lang="en-US" sz="1600" dirty="0">
                <a:solidFill>
                  <a:schemeClr val="tx1"/>
                </a:solidFill>
              </a:rPr>
              <a:t> = 256 addresses. We cut it into four /26 blocks of 64 and use two of them.</a:t>
            </a:r>
            <a:endParaRPr lang="en-US" sz="1600" dirty="0"/>
          </a:p>
        </p:txBody>
      </p:sp>
      <p:sp>
        <p:nvSpPr>
          <p:cNvPr id="5" name="block Wired.0 - .63"/>
          <p:cNvSpPr/>
          <p:nvPr/>
        </p:nvSpPr>
        <p:spPr>
          <a:xfrm>
            <a:off x="548640" y="1920240"/>
            <a:ext cx="269748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Wired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192.168.10.0 - .63</a:t>
            </a:r>
            <a:endParaRPr lang="en-US" sz="1600" dirty="0"/>
          </a:p>
        </p:txBody>
      </p:sp>
      <p:sp>
        <p:nvSpPr>
          <p:cNvPr id="7" name="block Wireless.64 - .127"/>
          <p:cNvSpPr/>
          <p:nvPr/>
        </p:nvSpPr>
        <p:spPr>
          <a:xfrm>
            <a:off x="3337560" y="1920240"/>
            <a:ext cx="269748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Wireless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192.168.10.64 - .127</a:t>
            </a:r>
            <a:endParaRPr lang="en-US" sz="1600" dirty="0"/>
          </a:p>
        </p:txBody>
      </p:sp>
      <p:sp>
        <p:nvSpPr>
          <p:cNvPr id="9" name="block Spare.128 - .191"/>
          <p:cNvSpPr/>
          <p:nvPr/>
        </p:nvSpPr>
        <p:spPr>
          <a:xfrm>
            <a:off x="6126480" y="1920240"/>
            <a:ext cx="269748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Spare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192.168.10.128 - .191</a:t>
            </a:r>
            <a:endParaRPr lang="en-US" sz="1600" dirty="0"/>
          </a:p>
        </p:txBody>
      </p:sp>
      <p:sp>
        <p:nvSpPr>
          <p:cNvPr id="11" name="block Spare.192 - .255"/>
          <p:cNvSpPr/>
          <p:nvPr/>
        </p:nvSpPr>
        <p:spPr>
          <a:xfrm>
            <a:off x="8915400" y="1920240"/>
            <a:ext cx="269748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1540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Spare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192.168.10.192 - .255</a:t>
            </a:r>
            <a:endParaRPr lang="en-US" sz="1600" dirty="0"/>
          </a:p>
        </p:txBody>
      </p:sp>
      <p:sp>
        <p:nvSpPr>
          <p:cNvPr id="13" name="Wired subnet"/>
          <p:cNvSpPr/>
          <p:nvPr/>
        </p:nvSpPr>
        <p:spPr>
          <a:xfrm>
            <a:off x="548640" y="2926080"/>
            <a:ext cx="534924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ode "/>
          <p:cNvSpPr/>
          <p:nvPr/>
        </p:nvSpPr>
        <p:spPr>
          <a:xfrm>
            <a:off x="800100" y="3131820"/>
            <a:ext cx="594360" cy="5943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" y="3274466"/>
            <a:ext cx="309067" cy="30906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5544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Wired subnet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840480"/>
          <a:ext cx="4892040" cy="1645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Network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192.168.10.0/26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Mask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255.255.255.192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Usable hosts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.1 to .62  (62 hosts)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Broadcast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192.168.10.63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Default gateway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 (router G0/1)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Wireless subnet"/>
          <p:cNvSpPr/>
          <p:nvPr/>
        </p:nvSpPr>
        <p:spPr>
          <a:xfrm>
            <a:off x="6263640" y="2926080"/>
            <a:ext cx="534924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ode "/>
          <p:cNvSpPr/>
          <p:nvPr/>
        </p:nvSpPr>
        <p:spPr>
          <a:xfrm>
            <a:off x="6515100" y="3131820"/>
            <a:ext cx="594360" cy="59436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0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746" y="3274466"/>
            <a:ext cx="309067" cy="30906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2694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Wireless subnet</a:t>
            </a:r>
            <a:endParaRPr lang="en-US" sz="180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840480"/>
          <a:ext cx="4892040" cy="1645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Network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192.168.10.64/26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Mask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255.255.255.192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Usable hosts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.65 to .126  (62 hosts)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Broadcast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192.168.10.127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Default gateway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192.168.10.65 (router G0/2)</a:t>
                      </a:r>
                      <a:endParaRPr lang="en-US" sz="1400" dirty="0"/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split? </a:t>
            </a:r>
            <a:r>
              <a:rPr lang="en-US" sz="1400" dirty="0">
                <a:solidFill>
                  <a:schemeClr val="tx1"/>
                </a:solidFill>
              </a:rPr>
              <a:t>Wi-Fi guests and phones stay apart from wired PCs and the printer, broadcasts stay small, and the two spare blocks leave room to grow.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 ·  IP PLAN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IP address for every device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16966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Device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Subnet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IP address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Default gateway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Assigned by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 G0/1 (wired side)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 G0/2 (wireless side)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Wireless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Router G0/0 (internet side)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203.0.113.10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203.0.113.1 (ISP)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From ISP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1 (management)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2 (management)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Printer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PC1  /  PC2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192.168.10.10  /  .11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DHCP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PC3  /  PC4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192.168.10.12  /  .13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DHCP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Wi-Fi access point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Wireless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Laptop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Wireless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192.168.10.70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DHCP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Phone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Wireless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192.168.10.71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DHCP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Mask for every LAN device: </a:t>
            </a:r>
            <a:r>
              <a:rPr lang="en-US" sz="1400" dirty="0">
                <a:solidFill>
                  <a:schemeClr val="tx1"/>
                </a:solidFill>
              </a:rPr>
              <a:t>255.255.255.192 (/26).  </a:t>
            </a:r>
            <a:r>
              <a:rPr lang="en-US" sz="1400" b="1" dirty="0">
                <a:solidFill>
                  <a:schemeClr val="tx1"/>
                </a:solidFill>
              </a:rPr>
              <a:t>Default gateway </a:t>
            </a:r>
            <a:r>
              <a:rPr lang="en-US" sz="1400" dirty="0">
                <a:solidFill>
                  <a:schemeClr val="tx1"/>
                </a:solidFill>
              </a:rPr>
              <a:t>= the router port on the same subnet: the door out of the local network.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 ·  DHCP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DHCP: automatic addresses in four messages</a:t>
            </a:r>
            <a:endParaRPr lang="en-US" sz="3600" dirty="0"/>
          </a:p>
        </p:txBody>
      </p:sp>
      <p:sp>
        <p:nvSpPr>
          <p:cNvPr id="4" name="node New device"/>
          <p:cNvSpPr/>
          <p:nvPr/>
        </p:nvSpPr>
        <p:spPr>
          <a:xfrm>
            <a:off x="822960" y="3108960"/>
            <a:ext cx="914400" cy="9144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5" name="Image 0" descr="New dev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328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New device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e.g. the laptop</a:t>
            </a:r>
            <a:endParaRPr lang="en-US" sz="1300" dirty="0"/>
          </a:p>
        </p:txBody>
      </p:sp>
      <p:sp>
        <p:nvSpPr>
          <p:cNvPr id="7" name="node DHCP server"/>
          <p:cNvSpPr/>
          <p:nvPr/>
        </p:nvSpPr>
        <p:spPr>
          <a:xfrm>
            <a:off x="6217920" y="3108960"/>
            <a:ext cx="914400" cy="914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8" name="Image 1" descr="DHCP 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328416"/>
            <a:ext cx="475488" cy="4754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6072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DHCP 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the router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 Discover   </a:t>
            </a:r>
            <a:r>
              <a:rPr lang="en-US" sz="1400" dirty="0">
                <a:solidFill>
                  <a:schemeClr val="tx1"/>
                </a:solidFill>
              </a:rPr>
              <a:t>"Is there a DHCP server here?" (broadcast)</a:t>
            </a:r>
            <a:endParaRPr lang="en-US" sz="1400" dirty="0"/>
          </a:p>
        </p:txBody>
      </p:sp>
      <p:sp>
        <p:nvSpPr>
          <p:cNvPr id="11" name="link"/>
          <p:cNvSpPr/>
          <p:nvPr/>
        </p:nvSpPr>
        <p:spPr>
          <a:xfrm>
            <a:off x="1920240" y="2148840"/>
            <a:ext cx="42062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1920240" y="27523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  Offer   </a:t>
            </a:r>
            <a:r>
              <a:rPr lang="en-US" sz="1400" dirty="0">
                <a:solidFill>
                  <a:schemeClr val="tx1"/>
                </a:solidFill>
              </a:rPr>
              <a:t>"You can use 192.168.10.70"</a:t>
            </a:r>
            <a:endParaRPr lang="en-US" sz="1400" dirty="0"/>
          </a:p>
        </p:txBody>
      </p:sp>
      <p:sp>
        <p:nvSpPr>
          <p:cNvPr id="13" name="link"/>
          <p:cNvSpPr/>
          <p:nvPr/>
        </p:nvSpPr>
        <p:spPr>
          <a:xfrm flipH="1">
            <a:off x="1920240" y="3136392"/>
            <a:ext cx="420624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1920240" y="37398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 Request   </a:t>
            </a:r>
            <a:r>
              <a:rPr lang="en-US" sz="1400" dirty="0">
                <a:solidFill>
                  <a:schemeClr val="tx1"/>
                </a:solidFill>
              </a:rPr>
              <a:t>"Great, I'll take .70"</a:t>
            </a:r>
            <a:endParaRPr lang="en-US" sz="1400" dirty="0"/>
          </a:p>
        </p:txBody>
      </p:sp>
      <p:sp>
        <p:nvSpPr>
          <p:cNvPr id="15" name="link"/>
          <p:cNvSpPr/>
          <p:nvPr/>
        </p:nvSpPr>
        <p:spPr>
          <a:xfrm>
            <a:off x="1920240" y="4123944"/>
            <a:ext cx="42062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1920240" y="4727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4  Acknowledge   </a:t>
            </a:r>
            <a:r>
              <a:rPr lang="en-US" sz="1400" dirty="0">
                <a:solidFill>
                  <a:schemeClr val="tx1"/>
                </a:solidFill>
              </a:rPr>
              <a:t>"It's yours, with gateway and DNS"</a:t>
            </a:r>
            <a:endParaRPr lang="en-US" sz="1400" dirty="0"/>
          </a:p>
        </p:txBody>
      </p:sp>
      <p:sp>
        <p:nvSpPr>
          <p:cNvPr id="17" name="link"/>
          <p:cNvSpPr/>
          <p:nvPr/>
        </p:nvSpPr>
        <p:spPr>
          <a:xfrm flipH="1">
            <a:off x="1920240" y="5111496"/>
            <a:ext cx="420624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DHCP details"/>
          <p:cNvSpPr/>
          <p:nvPr/>
        </p:nvSpPr>
        <p:spPr>
          <a:xfrm>
            <a:off x="8046720" y="1508760"/>
            <a:ext cx="3566160" cy="37490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75320" y="1691640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The device receives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IP address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Subnet mask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Default gateway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DNS server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Lease time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Our two pools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Wired: .10 to .50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Wireless: .70 to .120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Router, switches, printer and AP keep static IPs so they never move.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Routing &amp; packet forwarding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Follow the laptop as it opens www.example.com: from Wi-Fi, through the router and NAT, to the internet and back.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 ·  THE PATH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Laptop to website: the path at a glance</a:t>
            </a:r>
            <a:endParaRPr lang="en-US" sz="3600" dirty="0"/>
          </a:p>
        </p:txBody>
      </p:sp>
      <p:sp>
        <p:nvSpPr>
          <p:cNvPr id="4" name="link"/>
          <p:cNvSpPr/>
          <p:nvPr/>
        </p:nvSpPr>
        <p:spPr>
          <a:xfrm>
            <a:off x="1691640" y="2514600"/>
            <a:ext cx="9601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1554480" y="2103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Wi-Fi</a:t>
            </a:r>
            <a:endParaRPr lang="en-US" sz="1200" dirty="0"/>
          </a:p>
        </p:txBody>
      </p:sp>
      <p:sp>
        <p:nvSpPr>
          <p:cNvPr id="6" name="node Laptop"/>
          <p:cNvSpPr/>
          <p:nvPr/>
        </p:nvSpPr>
        <p:spPr>
          <a:xfrm>
            <a:off x="754380" y="2080260"/>
            <a:ext cx="868680" cy="8686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7" name="Image 0" descr="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" y="2288743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4320" y="29946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Laptop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192.168.10.70</a:t>
            </a:r>
            <a:endParaRPr lang="en-US" sz="1300" dirty="0"/>
          </a:p>
        </p:txBody>
      </p:sp>
      <p:sp>
        <p:nvSpPr>
          <p:cNvPr id="9" name="link"/>
          <p:cNvSpPr/>
          <p:nvPr/>
        </p:nvSpPr>
        <p:spPr>
          <a:xfrm>
            <a:off x="3657600" y="2514600"/>
            <a:ext cx="9601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520440" y="2103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Ethernet</a:t>
            </a:r>
            <a:endParaRPr lang="en-US" sz="1200" dirty="0"/>
          </a:p>
        </p:txBody>
      </p:sp>
      <p:sp>
        <p:nvSpPr>
          <p:cNvPr id="11" name="node Access point"/>
          <p:cNvSpPr/>
          <p:nvPr/>
        </p:nvSpPr>
        <p:spPr>
          <a:xfrm>
            <a:off x="2720340" y="2080260"/>
            <a:ext cx="868680" cy="8686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2" name="Image 1" descr="Access poi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823" y="228874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40280" y="29946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Access point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bridges Wi-Fi</a:t>
            </a:r>
            <a:endParaRPr lang="en-US" sz="1300" dirty="0"/>
          </a:p>
        </p:txBody>
      </p:sp>
      <p:sp>
        <p:nvSpPr>
          <p:cNvPr id="14" name="link"/>
          <p:cNvSpPr/>
          <p:nvPr/>
        </p:nvSpPr>
        <p:spPr>
          <a:xfrm>
            <a:off x="5623560" y="2514600"/>
            <a:ext cx="9601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5486400" y="2103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ISP link</a:t>
            </a:r>
            <a:endParaRPr lang="en-US" sz="1200" dirty="0"/>
          </a:p>
        </p:txBody>
      </p:sp>
      <p:sp>
        <p:nvSpPr>
          <p:cNvPr id="16" name="node Our router"/>
          <p:cNvSpPr/>
          <p:nvPr/>
        </p:nvSpPr>
        <p:spPr>
          <a:xfrm>
            <a:off x="4686300" y="2080260"/>
            <a:ext cx="868680" cy="86868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7" name="Image 2" descr="Our rou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783" y="228874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06240" y="29946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Our router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routing + NAT</a:t>
            </a:r>
            <a:endParaRPr lang="en-US" sz="1300" dirty="0"/>
          </a:p>
        </p:txBody>
      </p:sp>
      <p:sp>
        <p:nvSpPr>
          <p:cNvPr id="19" name="link"/>
          <p:cNvSpPr/>
          <p:nvPr/>
        </p:nvSpPr>
        <p:spPr>
          <a:xfrm>
            <a:off x="7589520" y="2514600"/>
            <a:ext cx="9601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7452360" y="2103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hops</a:t>
            </a:r>
            <a:endParaRPr lang="en-US" sz="1200" dirty="0"/>
          </a:p>
        </p:txBody>
      </p:sp>
      <p:sp>
        <p:nvSpPr>
          <p:cNvPr id="21" name="node ISP router"/>
          <p:cNvSpPr/>
          <p:nvPr/>
        </p:nvSpPr>
        <p:spPr>
          <a:xfrm>
            <a:off x="6652260" y="2080260"/>
            <a:ext cx="868680" cy="86868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2" name="Image 3" descr="ISP rou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743" y="2288743"/>
            <a:ext cx="451714" cy="45171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172200" y="29946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ISP router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203.0.113.1</a:t>
            </a:r>
            <a:endParaRPr lang="en-US" sz="1300" dirty="0"/>
          </a:p>
        </p:txBody>
      </p:sp>
      <p:sp>
        <p:nvSpPr>
          <p:cNvPr id="24" name="link"/>
          <p:cNvSpPr/>
          <p:nvPr/>
        </p:nvSpPr>
        <p:spPr>
          <a:xfrm>
            <a:off x="9555480" y="2514600"/>
            <a:ext cx="9601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9418320" y="2103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hops</a:t>
            </a:r>
            <a:endParaRPr lang="en-US" sz="1200" dirty="0"/>
          </a:p>
        </p:txBody>
      </p:sp>
      <p:sp>
        <p:nvSpPr>
          <p:cNvPr id="26" name="node Internet"/>
          <p:cNvSpPr/>
          <p:nvPr/>
        </p:nvSpPr>
        <p:spPr>
          <a:xfrm>
            <a:off x="8618220" y="2080260"/>
            <a:ext cx="868680" cy="86868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27" name="Image 4" descr="Intern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6703" y="2288743"/>
            <a:ext cx="451714" cy="45171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38160" y="29946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Internet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many routers</a:t>
            </a:r>
            <a:endParaRPr lang="en-US" sz="1300" dirty="0"/>
          </a:p>
        </p:txBody>
      </p:sp>
      <p:sp>
        <p:nvSpPr>
          <p:cNvPr id="29" name="node Web server"/>
          <p:cNvSpPr/>
          <p:nvPr/>
        </p:nvSpPr>
        <p:spPr>
          <a:xfrm>
            <a:off x="10584180" y="2080260"/>
            <a:ext cx="868680" cy="86868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30" name="Image 5" descr="Web serv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2663" y="2288743"/>
            <a:ext cx="451714" cy="45171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04120" y="29946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Web 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93.184.216.34</a:t>
            </a:r>
            <a:endParaRPr lang="en-US" sz="1300" dirty="0"/>
          </a:p>
        </p:txBody>
      </p:sp>
      <p:sp>
        <p:nvSpPr>
          <p:cNvPr id="32" name="Never changes"/>
          <p:cNvSpPr/>
          <p:nvPr/>
        </p:nvSpPr>
        <p:spPr>
          <a:xfrm>
            <a:off x="548640" y="406908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777240" y="42062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Never changes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Destination IP 93.184.216.34. Every router reads it to choose the way forward.</a:t>
            </a:r>
            <a:endParaRPr lang="en-US" sz="1500" dirty="0"/>
          </a:p>
        </p:txBody>
      </p:sp>
      <p:sp>
        <p:nvSpPr>
          <p:cNvPr id="34" name="Changes once (at our router)"/>
          <p:cNvSpPr/>
          <p:nvPr/>
        </p:nvSpPr>
        <p:spPr>
          <a:xfrm>
            <a:off x="4297680" y="406908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4526280" y="42062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Changes once (at our router)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Source IP: 192.168.10.70 becomes 203.0.113.10 because of NAT.</a:t>
            </a:r>
            <a:endParaRPr lang="en-US" sz="1500" dirty="0"/>
          </a:p>
        </p:txBody>
      </p:sp>
      <p:sp>
        <p:nvSpPr>
          <p:cNvPr id="36" name="Changes at every hop"/>
          <p:cNvSpPr/>
          <p:nvPr/>
        </p:nvSpPr>
        <p:spPr>
          <a:xfrm>
            <a:off x="8046720" y="406908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75320" y="42062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Changes at every hop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MAC addresses (a new frame for each link) and TTL, which drops by 1.</a:t>
            </a:r>
            <a:endParaRPr lang="en-US" sz="15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 ·  STEP BY STEP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happens when the laptop opens a website</a:t>
            </a:r>
            <a:endParaRPr lang="en-US" sz="3600" dirty="0"/>
          </a:p>
        </p:txBody>
      </p:sp>
      <p:sp>
        <p:nvSpPr>
          <p:cNvPr id="4" name="step 1"/>
          <p:cNvSpPr/>
          <p:nvPr/>
        </p:nvSpPr>
        <p:spPr>
          <a:xfrm>
            <a:off x="548640" y="150876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6420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the IP (DNS)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laptop asks DNS: "What is the IP of www.example.com?" Answer: 93.184.216.34.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548640" y="306324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21868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Local or remote?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Using its mask, the laptop sees 93.184.216.34 is not in 192.168.10.64/26. So it sends to its gateway, 192.168.10.65.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548640" y="461772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ep 3"/>
          <p:cNvSpPr/>
          <p:nvPr/>
        </p:nvSpPr>
        <p:spPr>
          <a:xfrm>
            <a:off x="777240" y="4846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77316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Get the gateway's MAC (ARP)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"Who has 192.168.10.65?" The router answers with port G0/2's MAC 00:1A:2B:10:00:03.</a:t>
            </a:r>
            <a:endParaRPr lang="en-US" sz="1400" dirty="0"/>
          </a:p>
        </p:txBody>
      </p:sp>
      <p:sp>
        <p:nvSpPr>
          <p:cNvPr id="16" name="step 4"/>
          <p:cNvSpPr/>
          <p:nvPr/>
        </p:nvSpPr>
        <p:spPr>
          <a:xfrm>
            <a:off x="6263640" y="150876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ep 4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66420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Over the air to the AP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laptop sends a Wi-Fi frame (CSMA/CA). The access point passes it on to the router as an Ethernet frame.</a:t>
            </a:r>
            <a:endParaRPr lang="en-US" sz="1400" dirty="0"/>
          </a:p>
        </p:txBody>
      </p:sp>
      <p:sp>
        <p:nvSpPr>
          <p:cNvPr id="20" name="step 5"/>
          <p:cNvSpPr/>
          <p:nvPr/>
        </p:nvSpPr>
        <p:spPr>
          <a:xfrm>
            <a:off x="6263640" y="306324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tep 5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21868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At the router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It removes the frame, reads the IP header, lowers TTL, picks the next hop, applies NAT and builds a new frame for the ISP.</a:t>
            </a:r>
            <a:endParaRPr lang="en-US" sz="1400" dirty="0"/>
          </a:p>
        </p:txBody>
      </p:sp>
      <p:sp>
        <p:nvSpPr>
          <p:cNvPr id="24" name="step 6"/>
          <p:cNvSpPr/>
          <p:nvPr/>
        </p:nvSpPr>
        <p:spPr>
          <a:xfrm>
            <a:off x="6263640" y="4617720"/>
            <a:ext cx="5349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 6"/>
          <p:cNvSpPr/>
          <p:nvPr/>
        </p:nvSpPr>
        <p:spPr>
          <a:xfrm>
            <a:off x="6492240" y="4846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477316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Across the internet and back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router repeats "read IP, pick next hop". The reply comes back to 203.0.113.10 and NAT sends it to the laptop.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 ·  THE IP HEADER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routers use the IP header</a:t>
            </a:r>
            <a:endParaRPr lang="en-US" sz="3600" dirty="0"/>
          </a:p>
        </p:txBody>
      </p:sp>
      <p:sp>
        <p:nvSpPr>
          <p:cNvPr id="4" name="hdr Version 4"/>
          <p:cNvSpPr/>
          <p:nvPr/>
        </p:nvSpPr>
        <p:spPr>
          <a:xfrm>
            <a:off x="548640" y="1600200"/>
            <a:ext cx="1244156" cy="6766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24415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Version 4</a:t>
            </a:r>
            <a:endParaRPr lang="en-US" sz="1400" dirty="0"/>
          </a:p>
        </p:txBody>
      </p:sp>
      <p:sp>
        <p:nvSpPr>
          <p:cNvPr id="6" name="hdr Header length"/>
          <p:cNvSpPr/>
          <p:nvPr/>
        </p:nvSpPr>
        <p:spPr>
          <a:xfrm>
            <a:off x="1847660" y="1600200"/>
            <a:ext cx="1421892" cy="6766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47660" y="1600200"/>
            <a:ext cx="142189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Header length</a:t>
            </a:r>
            <a:endParaRPr lang="en-US" sz="1400" dirty="0"/>
          </a:p>
        </p:txBody>
      </p:sp>
      <p:sp>
        <p:nvSpPr>
          <p:cNvPr id="8" name="hdr Type of service"/>
          <p:cNvSpPr/>
          <p:nvPr/>
        </p:nvSpPr>
        <p:spPr>
          <a:xfrm>
            <a:off x="3324416" y="1600200"/>
            <a:ext cx="1421892" cy="6766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24416" y="1600200"/>
            <a:ext cx="142189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Type of service</a:t>
            </a:r>
            <a:endParaRPr lang="en-US" sz="1400" dirty="0"/>
          </a:p>
        </p:txBody>
      </p:sp>
      <p:sp>
        <p:nvSpPr>
          <p:cNvPr id="10" name="hdr Total length"/>
          <p:cNvSpPr/>
          <p:nvPr/>
        </p:nvSpPr>
        <p:spPr>
          <a:xfrm>
            <a:off x="4801172" y="1600200"/>
            <a:ext cx="1599629" cy="6766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1172" y="1600200"/>
            <a:ext cx="1599629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Total length</a:t>
            </a:r>
            <a:endParaRPr lang="en-US" sz="1400" dirty="0"/>
          </a:p>
        </p:txBody>
      </p:sp>
      <p:sp>
        <p:nvSpPr>
          <p:cNvPr id="12" name="hdr Identification"/>
          <p:cNvSpPr/>
          <p:nvPr/>
        </p:nvSpPr>
        <p:spPr>
          <a:xfrm>
            <a:off x="548640" y="2350008"/>
            <a:ext cx="2691765" cy="6766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350008"/>
            <a:ext cx="2691765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Identification</a:t>
            </a:r>
            <a:endParaRPr lang="en-US" sz="1400" dirty="0"/>
          </a:p>
        </p:txBody>
      </p:sp>
      <p:sp>
        <p:nvSpPr>
          <p:cNvPr id="14" name="hdr Flags"/>
          <p:cNvSpPr/>
          <p:nvPr/>
        </p:nvSpPr>
        <p:spPr>
          <a:xfrm>
            <a:off x="3295269" y="2350008"/>
            <a:ext cx="1076706" cy="6766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95269" y="2350008"/>
            <a:ext cx="107670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Flags</a:t>
            </a:r>
            <a:endParaRPr lang="en-US" sz="1400" dirty="0"/>
          </a:p>
        </p:txBody>
      </p:sp>
      <p:sp>
        <p:nvSpPr>
          <p:cNvPr id="16" name="hdr Fragment offset"/>
          <p:cNvSpPr/>
          <p:nvPr/>
        </p:nvSpPr>
        <p:spPr>
          <a:xfrm>
            <a:off x="4426839" y="2350008"/>
            <a:ext cx="1973961" cy="6766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26839" y="2350008"/>
            <a:ext cx="1973961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Fragment offset</a:t>
            </a:r>
            <a:endParaRPr lang="en-US" sz="1400" dirty="0"/>
          </a:p>
        </p:txBody>
      </p:sp>
      <p:sp>
        <p:nvSpPr>
          <p:cNvPr id="18" name="hdr TTL  64"/>
          <p:cNvSpPr/>
          <p:nvPr/>
        </p:nvSpPr>
        <p:spPr>
          <a:xfrm>
            <a:off x="548640" y="3099816"/>
            <a:ext cx="1435608" cy="67665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099816"/>
            <a:ext cx="1435608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TTL  64</a:t>
            </a:r>
            <a:endParaRPr lang="en-US" sz="1400" dirty="0"/>
          </a:p>
        </p:txBody>
      </p:sp>
      <p:sp>
        <p:nvSpPr>
          <p:cNvPr id="20" name="hdr Protocol  6 = TCP"/>
          <p:cNvSpPr/>
          <p:nvPr/>
        </p:nvSpPr>
        <p:spPr>
          <a:xfrm>
            <a:off x="2039112" y="3099816"/>
            <a:ext cx="2153412" cy="67665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39112" y="3099816"/>
            <a:ext cx="215341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Protocol  6 = TCP</a:t>
            </a:r>
            <a:endParaRPr lang="en-US" sz="1400" dirty="0"/>
          </a:p>
        </p:txBody>
      </p:sp>
      <p:sp>
        <p:nvSpPr>
          <p:cNvPr id="22" name="hdr Header checksum"/>
          <p:cNvSpPr/>
          <p:nvPr/>
        </p:nvSpPr>
        <p:spPr>
          <a:xfrm>
            <a:off x="4247388" y="3099816"/>
            <a:ext cx="2153412" cy="67665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47388" y="3099816"/>
            <a:ext cx="215341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Header checksum</a:t>
            </a:r>
            <a:endParaRPr lang="en-US" sz="1400" dirty="0"/>
          </a:p>
        </p:txBody>
      </p:sp>
      <p:sp>
        <p:nvSpPr>
          <p:cNvPr id="24" name="hdr Source IP   192.168.10.70"/>
          <p:cNvSpPr/>
          <p:nvPr/>
        </p:nvSpPr>
        <p:spPr>
          <a:xfrm>
            <a:off x="548640" y="3849624"/>
            <a:ext cx="5852160" cy="67665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849624"/>
            <a:ext cx="58521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Source IP   192.168.10.70</a:t>
            </a:r>
            <a:endParaRPr lang="en-US" sz="1400" dirty="0"/>
          </a:p>
        </p:txBody>
      </p:sp>
      <p:sp>
        <p:nvSpPr>
          <p:cNvPr id="26" name="hdr Destination IP   93.184.216.34"/>
          <p:cNvSpPr/>
          <p:nvPr/>
        </p:nvSpPr>
        <p:spPr>
          <a:xfrm>
            <a:off x="548640" y="4599432"/>
            <a:ext cx="5852160" cy="67665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599432"/>
            <a:ext cx="5852160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Destination IP   93.184.216.34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406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Highlighted = fields the router reads or changes</a:t>
            </a:r>
            <a:endParaRPr lang="en-US" sz="1200" dirty="0"/>
          </a:p>
        </p:txBody>
      </p:sp>
      <p:sp>
        <p:nvSpPr>
          <p:cNvPr id="29" name="step 1"/>
          <p:cNvSpPr/>
          <p:nvPr/>
        </p:nvSpPr>
        <p:spPr>
          <a:xfrm>
            <a:off x="6903720" y="16916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16002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Destination IP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Looked up in the routing table to choose the next hop.</a:t>
            </a:r>
            <a:endParaRPr lang="en-US" sz="1400" dirty="0"/>
          </a:p>
        </p:txBody>
      </p:sp>
      <p:sp>
        <p:nvSpPr>
          <p:cNvPr id="32" name="step 2"/>
          <p:cNvSpPr/>
          <p:nvPr/>
        </p:nvSpPr>
        <p:spPr>
          <a:xfrm>
            <a:off x="6903720" y="2788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2697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TTL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Lowered by 1 at every router. At 0 the packet is dropped, so it can never loop forever.</a:t>
            </a:r>
            <a:endParaRPr lang="en-US" sz="1400" dirty="0"/>
          </a:p>
        </p:txBody>
      </p:sp>
      <p:sp>
        <p:nvSpPr>
          <p:cNvPr id="35" name="step 3"/>
          <p:cNvSpPr/>
          <p:nvPr/>
        </p:nvSpPr>
        <p:spPr>
          <a:xfrm>
            <a:off x="6903720" y="3886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3794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Checksum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Recalculated, because TTL (and NAT) changed the header.</a:t>
            </a:r>
            <a:endParaRPr lang="en-US" sz="1400" dirty="0"/>
          </a:p>
        </p:txBody>
      </p:sp>
      <p:sp>
        <p:nvSpPr>
          <p:cNvPr id="38" name="step 4"/>
          <p:cNvSpPr/>
          <p:nvPr/>
        </p:nvSpPr>
        <p:spPr>
          <a:xfrm>
            <a:off x="6903720" y="4983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0372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589520" y="4892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Source IP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Rewritten by NAT at our router so replies can find their way back.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 ·  NEXT HOP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the router decides the next hop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16459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Destination network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Next hop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Exit port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192.168.10.0/26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Directly connected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G0/1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Wired LAN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192.168.10.64/26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Directly connected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G0/2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Wireless LAN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0.0.0.0/0  (default route)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203.0.113.1 (ISP)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G0/0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Everything else = internet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Our router's routing table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Looking up 93.184.216.34</a:t>
            </a:r>
            <a:endParaRPr lang="en-US" sz="1800" dirty="0"/>
          </a:p>
        </p:txBody>
      </p:sp>
      <p:sp>
        <p:nvSpPr>
          <p:cNvPr id="7" name="lookup 192.168.10.0/26?"/>
          <p:cNvSpPr/>
          <p:nvPr/>
        </p:nvSpPr>
        <p:spPr>
          <a:xfrm>
            <a:off x="548640" y="4160520"/>
            <a:ext cx="22860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160520"/>
            <a:ext cx="2286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192.168.10.0/26?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No</a:t>
            </a:r>
            <a:endParaRPr lang="en-US" sz="1400" dirty="0"/>
          </a:p>
        </p:txBody>
      </p:sp>
      <p:sp>
        <p:nvSpPr>
          <p:cNvPr id="9" name="link"/>
          <p:cNvSpPr/>
          <p:nvPr/>
        </p:nvSpPr>
        <p:spPr>
          <a:xfrm>
            <a:off x="2834640" y="461772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lookup 192.168.10.64/26?"/>
          <p:cNvSpPr/>
          <p:nvPr/>
        </p:nvSpPr>
        <p:spPr>
          <a:xfrm>
            <a:off x="3063240" y="4160520"/>
            <a:ext cx="22860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63240" y="4160520"/>
            <a:ext cx="2286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192.168.10.64/26?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No</a:t>
            </a:r>
            <a:endParaRPr lang="en-US" sz="1400" dirty="0"/>
          </a:p>
        </p:txBody>
      </p:sp>
      <p:sp>
        <p:nvSpPr>
          <p:cNvPr id="12" name="link"/>
          <p:cNvSpPr/>
          <p:nvPr/>
        </p:nvSpPr>
        <p:spPr>
          <a:xfrm>
            <a:off x="5349240" y="461772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lookup 0.0.0.0/0?"/>
          <p:cNvSpPr/>
          <p:nvPr/>
        </p:nvSpPr>
        <p:spPr>
          <a:xfrm>
            <a:off x="5577840" y="4160520"/>
            <a:ext cx="22860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4160520"/>
            <a:ext cx="2286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0.0.0.0/0?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Yes - matches all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Result: </a:t>
            </a:r>
            <a:r>
              <a:rPr lang="en-US" sz="1500" dirty="0">
                <a:solidFill>
                  <a:schemeClr val="tx1"/>
                </a:solidFill>
              </a:rPr>
              <a:t>send it to 203.0.113.1 out of port G0/0.</a:t>
            </a:r>
            <a:endParaRPr lang="en-US" sz="1500" dirty="0"/>
          </a:p>
        </p:txBody>
      </p:sp>
      <p:sp>
        <p:nvSpPr>
          <p:cNvPr id="16" name="longest prefix"/>
          <p:cNvSpPr/>
          <p:nvPr/>
        </p:nvSpPr>
        <p:spPr>
          <a:xfrm>
            <a:off x="8321040" y="3611880"/>
            <a:ext cx="3291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14"/>
          <p:cNvSpPr txBox="1"/>
          <p:nvPr/>
        </p:nvSpPr>
        <p:spPr>
          <a:xfrm>
            <a:off x="8549640" y="37947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The rule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If several routes match, the most specific one (longest mask) wins. The default route /0 is the last resort.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 ·  NAT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NAT: the whole office shares one public IP</a:t>
            </a:r>
            <a:endParaRPr lang="en-US" sz="3600" dirty="0"/>
          </a:p>
        </p:txBody>
      </p:sp>
      <p:sp>
        <p:nvSpPr>
          <p:cNvPr id="4" name="Inside (private) - before NAT"/>
          <p:cNvSpPr/>
          <p:nvPr/>
        </p:nvSpPr>
        <p:spPr>
          <a:xfrm>
            <a:off x="548640" y="1600200"/>
            <a:ext cx="420624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Inside (private) - before NAT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Source:  192.168.10.70 : 51000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Destination:  93.184.216.34 : 443</a:t>
            </a:r>
            <a:endParaRPr lang="en-US" sz="1500" dirty="0"/>
          </a:p>
        </p:txBody>
      </p:sp>
      <p:sp>
        <p:nvSpPr>
          <p:cNvPr id="6" name="Outside (public) - after NAT"/>
          <p:cNvSpPr/>
          <p:nvPr/>
        </p:nvSpPr>
        <p:spPr>
          <a:xfrm>
            <a:off x="7406640" y="1600200"/>
            <a:ext cx="420624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635240" y="16916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Outside (public) - after NAT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Source:  203.0.113.10 : 40001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Destination:  93.184.216.34 : 443</a:t>
            </a:r>
            <a:endParaRPr lang="en-US" sz="1500" dirty="0"/>
          </a:p>
        </p:txBody>
      </p:sp>
      <p:sp>
        <p:nvSpPr>
          <p:cNvPr id="8" name="link"/>
          <p:cNvSpPr/>
          <p:nvPr/>
        </p:nvSpPr>
        <p:spPr>
          <a:xfrm>
            <a:off x="4846320" y="2468880"/>
            <a:ext cx="2423160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node "/>
          <p:cNvSpPr/>
          <p:nvPr/>
        </p:nvSpPr>
        <p:spPr>
          <a:xfrm>
            <a:off x="5692140" y="2080260"/>
            <a:ext cx="777240" cy="77724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0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2266798"/>
            <a:ext cx="404165" cy="40416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0060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Router rewrites the source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NAT table kept by the router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766560" cy="11521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Device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Inside address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Outside address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Laptop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192.168.10.70 : 51000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203.0.113.10 : 40001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Phone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192.168.10.71 : 52000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203.0.113.10 : 40002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5257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 the way back: </a:t>
            </a:r>
            <a:r>
              <a:rPr lang="en-US" sz="1400" dirty="0">
                <a:solidFill>
                  <a:schemeClr val="tx1"/>
                </a:solidFill>
              </a:rPr>
              <a:t>the reply arrives for 203.0.113.10 : 40001. The router looks it up, swaps it back to 192.168.10.70 : 51000 and forwards it to the laptop.</a:t>
            </a:r>
            <a:endParaRPr lang="en-US" sz="1400" dirty="0"/>
          </a:p>
        </p:txBody>
      </p:sp>
      <p:sp>
        <p:nvSpPr>
          <p:cNvPr id="15" name="why NAT"/>
          <p:cNvSpPr/>
          <p:nvPr/>
        </p:nvSpPr>
        <p:spPr>
          <a:xfrm>
            <a:off x="7680960" y="3611880"/>
            <a:ext cx="39319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09560" y="3794760"/>
            <a:ext cx="3520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Why NAT?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Private IPs (192.168.x.x) are not allowed on the internet.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office device shares one public IP from the ISP.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Inside addresses stay hidden from the outside.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3" name="node "/>
          <p:cNvSpPr/>
          <p:nvPr/>
        </p:nvSpPr>
        <p:spPr>
          <a:xfrm>
            <a:off x="754380" y="1851660"/>
            <a:ext cx="868680" cy="8686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" y="2060143"/>
            <a:ext cx="451714" cy="4517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30175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MAC &amp; frames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MAC addresses deliver frames inside the LAN. Switches remove collisions; Wi-Fi avoids them with CSMA/CA.</a:t>
            </a:r>
            <a:endParaRPr lang="en-US" sz="1600" dirty="0"/>
          </a:p>
        </p:txBody>
      </p:sp>
      <p:sp>
        <p:nvSpPr>
          <p:cNvPr id="6" name="node "/>
          <p:cNvSpPr/>
          <p:nvPr/>
        </p:nvSpPr>
        <p:spPr>
          <a:xfrm>
            <a:off x="4411980" y="1851660"/>
            <a:ext cx="868680" cy="8686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7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463" y="2060143"/>
            <a:ext cx="451714" cy="45171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89120" y="30175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IP &amp; subnets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192.168.10.0/24 split into wired /26 and wireless /26. DHCP hands out addresses automatically.</a:t>
            </a:r>
            <a:endParaRPr lang="en-US" sz="1600" dirty="0"/>
          </a:p>
        </p:txBody>
      </p:sp>
      <p:sp>
        <p:nvSpPr>
          <p:cNvPr id="9" name="node "/>
          <p:cNvSpPr/>
          <p:nvPr/>
        </p:nvSpPr>
        <p:spPr>
          <a:xfrm>
            <a:off x="8069580" y="1851660"/>
            <a:ext cx="868680" cy="8686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0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063" y="2060143"/>
            <a:ext cx="451714" cy="45171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46720" y="30175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Routing &amp; NAT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Routers read the destination IP to pick the next hop. NAT lets every device share one public IP.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</a:rPr>
              <a:t>Frame inside the LAN, packet across the internet.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 to Forward">
  <a:themeElements>
    <a:clrScheme name="Frame to Forward">
      <a:dk1>
        <a:srgbClr val="14213D"/>
      </a:dk1>
      <a:lt1>
        <a:srgbClr val="FFFFFF"/>
      </a:lt1>
      <a:dk2>
        <a:srgbClr val="3D4B66"/>
      </a:dk2>
      <a:lt2>
        <a:srgbClr val="EEF3F8"/>
      </a:lt2>
      <a:accent1>
        <a:srgbClr val="0B7A85"/>
      </a:accent1>
      <a:accent2>
        <a:srgbClr val="F2A51A"/>
      </a:accent2>
      <a:accent3>
        <a:srgbClr val="D9502B"/>
      </a:accent3>
      <a:accent4>
        <a:srgbClr val="2E6DA4"/>
      </a:accent4>
      <a:accent5>
        <a:srgbClr val="6B7785"/>
      </a:accent5>
      <a:accent6>
        <a:srgbClr val="4E9F5B"/>
      </a:accent6>
      <a:hlink>
        <a:srgbClr val="0B7A85"/>
      </a:hlink>
      <a:folHlink>
        <a:srgbClr val="2E6DA4"/>
      </a:folHlink>
    </a:clrScheme>
    <a:fontScheme name="Frame to Forw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2131</Words>
  <Application>Microsoft Office PowerPoint</Application>
  <PresentationFormat>Widescreen</PresentationFormat>
  <Paragraphs>450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Frame to Forward</vt:lpstr>
      <vt:lpstr>From Frame to Forward</vt:lpstr>
      <vt:lpstr>What we are building</vt:lpstr>
      <vt:lpstr>How everything is connected</vt:lpstr>
      <vt:lpstr>MAC addresses &amp; frames</vt:lpstr>
      <vt:lpstr>Every device gets a MAC address</vt:lpstr>
      <vt:lpstr>A frame from PC1 to the printer</vt:lpstr>
      <vt:lpstr>Who talks first? Wired vs. wireless</vt:lpstr>
      <vt:lpstr>IP addressing &amp; subnetting</vt:lpstr>
      <vt:lpstr>One /24 split into two working subnets</vt:lpstr>
      <vt:lpstr>IP address for every device</vt:lpstr>
      <vt:lpstr>DHCP: automatic addresses in four messages</vt:lpstr>
      <vt:lpstr>Routing &amp; packet forwarding</vt:lpstr>
      <vt:lpstr>Laptop to website: the path at a glance</vt:lpstr>
      <vt:lpstr>What happens when the laptop opens a website</vt:lpstr>
      <vt:lpstr>How routers use the IP header</vt:lpstr>
      <vt:lpstr>How the router decides the next hop</vt:lpstr>
      <vt:lpstr>NAT: the whole office shares one public IP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Frame to Forward</dc:title>
  <dc:subject>PptxGenJS Presentation</dc:subject>
  <dc:creator>Abdelali Labibi</dc:creator>
  <cp:lastModifiedBy>Abdelali LABIBI</cp:lastModifiedBy>
  <cp:revision>2</cp:revision>
  <dcterms:created xsi:type="dcterms:W3CDTF">2026-10-18T10:51:14Z</dcterms:created>
  <dcterms:modified xsi:type="dcterms:W3CDTF">2026-10-18T10:58:51Z</dcterms:modified>
</cp:coreProperties>
</file>